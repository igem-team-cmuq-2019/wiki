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142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4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C955C-7B9D-4009-8C03-E7243F5972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5189E9-FE81-47C4-8C39-25D87C2CCB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135A9-4C63-4A72-9C53-68D57CDE6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02A10-438D-4EC2-8E69-B057612E08A2}" type="datetimeFigureOut">
              <a:rPr lang="en-US" smtClean="0"/>
              <a:t>19-Oct-19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E896E-2C2C-43C4-B516-BB8510D08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DFBDE-AF8E-4A84-8A94-FC260A99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6F649-280D-4D24-86BB-C3242BAAD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19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A18C8-63AE-40B9-B899-AFBC935F0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97EF8-FEFD-462E-A4FD-6B6E80853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6C688-F2BF-428B-BC81-6F82D6C86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02A10-438D-4EC2-8E69-B057612E08A2}" type="datetimeFigureOut">
              <a:rPr lang="en-US" smtClean="0"/>
              <a:t>19-Oct-19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9971D-5F96-4E49-BFD2-514BB6CF8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53BBB-4788-4DEB-A0F2-48EA7B155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6F649-280D-4D24-86BB-C3242BAAD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211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5B68D-BDAA-412F-A7FF-17CFE3069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AA0D1B-2120-4358-9E65-4BB0F8A86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1A5E3-9D3A-4A8C-B7B3-CFFDC9123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02A10-438D-4EC2-8E69-B057612E08A2}" type="datetimeFigureOut">
              <a:rPr lang="en-US" smtClean="0"/>
              <a:t>19-Oct-19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60A02-5971-47E6-A5B1-99ACD34F1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301EC-8A90-4E09-BEF4-FF29DD45A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6F649-280D-4D24-86BB-C3242BAAD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547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2A6D3-DBEC-492D-8201-660D12FD6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426A2-5B9C-4172-AFC7-5431FE5E5A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CC4131-DD48-434B-B8F0-CC4ABA1D4E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4AA2BE-06AE-44D1-AEC9-227BE373E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02A10-438D-4EC2-8E69-B057612E08A2}" type="datetimeFigureOut">
              <a:rPr lang="en-US" smtClean="0"/>
              <a:t>19-Oct-19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09165-F629-4A12-96BC-FCD07F3B1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70DF26-DF50-48DC-8FF3-07C59EFEE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6F649-280D-4D24-86BB-C3242BAAD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447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EDA6B-A7AB-44D5-B4DB-98C7448B7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87AC4-274D-45B5-BFC5-3AC49F3BA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D86782-27FD-4913-AB8D-0D7EAC3E7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6E6805-91D4-4CF0-BC9D-A583DF8CA7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C4AD93-EEA3-48FA-87F7-6F8269A446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0D78AB-C755-4A7E-8EDF-96614A63F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02A10-438D-4EC2-8E69-B057612E08A2}" type="datetimeFigureOut">
              <a:rPr lang="en-US" smtClean="0"/>
              <a:t>19-Oct-19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A22FA8-FCBE-4E86-81B2-4379325D2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0792C9-AB77-4A9B-82AE-A43E2A529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6F649-280D-4D24-86BB-C3242BAAD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05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8238C-3BA7-4EFA-8380-2C84D0CAD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41C406-E752-4142-9274-D74AA6580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02A10-438D-4EC2-8E69-B057612E08A2}" type="datetimeFigureOut">
              <a:rPr lang="en-US" smtClean="0"/>
              <a:t>19-Oct-19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827418-1CFD-47F9-920F-D6FA3684C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82468-4BF0-4545-B509-8935396CA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6F649-280D-4D24-86BB-C3242BAAD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110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40657F-EB2A-4030-ADF1-EDF263F74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02A10-438D-4EC2-8E69-B057612E08A2}" type="datetimeFigureOut">
              <a:rPr lang="en-US" smtClean="0"/>
              <a:t>19-Oct-19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560958-6F80-4B2B-BF65-334E40B95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F7F89-3AA8-4B12-9D76-9189D5A59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6F649-280D-4D24-86BB-C3242BAAD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213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3DEB9-B3C8-4EB7-B519-85C81AEDC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0BF55-A463-4BB1-BD91-CBBBD44B1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08E3C0-2C1F-49A9-8D2C-2507F1C4E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46DEEF-B9F8-40D5-B1A6-ADDBD4489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02A10-438D-4EC2-8E69-B057612E08A2}" type="datetimeFigureOut">
              <a:rPr lang="en-US" smtClean="0"/>
              <a:t>19-Oct-19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0F1C47-67CA-4618-AE37-8CD2C131C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FD916-4FE5-4CD0-A3C3-153A095D3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6F649-280D-4D24-86BB-C3242BAAD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721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007DA-E986-4B45-BF42-B0F5F9FF7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6449D4-B0B8-41C1-BFB7-D84AEF83F4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9405A6-9898-43E2-A7C0-127955E199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394CCA-8577-4AEE-B111-63569454A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02A10-438D-4EC2-8E69-B057612E08A2}" type="datetimeFigureOut">
              <a:rPr lang="en-US" smtClean="0"/>
              <a:t>19-Oct-19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C99D43-6D11-4554-9915-1B28B77EC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00EFB-8A53-48F3-A48B-44C5F6DB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6F649-280D-4D24-86BB-C3242BAAD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331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272C8-9A64-4DB8-A662-4D0C880E0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5D971B-4E5B-467A-8B62-12A5380A4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167A9-7CC4-43DD-9116-77FB2E3F3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02A10-438D-4EC2-8E69-B057612E08A2}" type="datetimeFigureOut">
              <a:rPr lang="en-US" smtClean="0"/>
              <a:t>19-Oct-19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98223-1BD5-401B-8259-82379E8EA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29BD4-E6D2-4ACD-8156-D5F9B44BF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6F649-280D-4D24-86BB-C3242BAAD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922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0AE618-6F7C-4248-8106-8F0638D68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747605-0195-494F-950F-BF738AE24B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3191E-6ECE-4C93-8363-952A28548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02A10-438D-4EC2-8E69-B057612E08A2}" type="datetimeFigureOut">
              <a:rPr lang="en-US" smtClean="0"/>
              <a:t>19-Oct-19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EB43A-7ED7-474A-8710-3AA4C5992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31E27-B4CC-4131-A6A9-5A61ECCCC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6F649-280D-4D24-86BB-C3242BAAD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956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909566-CC7A-420E-90DA-33F9C622E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32D14-7168-423E-AA6F-851C8B955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EA857-8516-4BAF-8D69-124ED3B5C4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02A10-438D-4EC2-8E69-B057612E08A2}" type="datetimeFigureOut">
              <a:rPr lang="en-US" smtClean="0"/>
              <a:t>19-Oct-19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A3524-27FA-4A0D-A293-7E853664B3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92E6B-8852-4940-B285-B253B66E7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6F649-280D-4D24-86BB-C3242BAAD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181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85CED2DE-B613-4B12-9EB7-4F45ECCDB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638" y="983848"/>
            <a:ext cx="11609588" cy="5226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2936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90161C-5FA6-43D4-941D-B3E36834D9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142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8A9BBAC-C6FB-4721-BC52-5DBF4611C3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016" y="300928"/>
            <a:ext cx="8845967" cy="6256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5267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2DF64A1-C0F7-4657-8ED8-4FFF4D419043}"/>
              </a:ext>
            </a:extLst>
          </p:cNvPr>
          <p:cNvSpPr/>
          <p:nvPr/>
        </p:nvSpPr>
        <p:spPr>
          <a:xfrm>
            <a:off x="1089950" y="0"/>
            <a:ext cx="10012101" cy="6858000"/>
          </a:xfrm>
          <a:prstGeom prst="rect">
            <a:avLst/>
          </a:prstGeom>
          <a:solidFill>
            <a:srgbClr val="6142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18">
            <a:extLst>
              <a:ext uri="{FF2B5EF4-FFF2-40B4-BE49-F238E27FC236}">
                <a16:creationId xmlns:a16="http://schemas.microsoft.com/office/drawing/2014/main" id="{315E03C7-EF8D-422C-A0E1-B5A578840C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250224"/>
              </p:ext>
            </p:extLst>
          </p:nvPr>
        </p:nvGraphicFramePr>
        <p:xfrm>
          <a:off x="2570545" y="-5119"/>
          <a:ext cx="7050911" cy="686823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62467">
                  <a:extLst>
                    <a:ext uri="{9D8B030D-6E8A-4147-A177-3AD203B41FA5}">
                      <a16:colId xmlns:a16="http://schemas.microsoft.com/office/drawing/2014/main" val="362125449"/>
                    </a:ext>
                  </a:extLst>
                </a:gridCol>
                <a:gridCol w="5988444">
                  <a:extLst>
                    <a:ext uri="{9D8B030D-6E8A-4147-A177-3AD203B41FA5}">
                      <a16:colId xmlns:a16="http://schemas.microsoft.com/office/drawing/2014/main" val="3043162107"/>
                    </a:ext>
                  </a:extLst>
                </a:gridCol>
              </a:tblGrid>
              <a:tr h="566751">
                <a:tc>
                  <a:txBody>
                    <a:bodyPr/>
                    <a:lstStyle/>
                    <a:p>
                      <a:pPr rtl="0"/>
                      <a:r>
                        <a:rPr lang="en-US" sz="2500" b="1" dirty="0">
                          <a:effectLst/>
                          <a:latin typeface="Ubuntu" panose="020B0504030602030204" pitchFamily="34" charset="0"/>
                        </a:rPr>
                        <a:t>Lane</a:t>
                      </a:r>
                    </a:p>
                  </a:txBody>
                  <a:tcPr marL="132596" marR="132596" marT="66298" marB="6629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500" dirty="0">
                          <a:effectLst/>
                          <a:latin typeface="Ubuntu" panose="020B0504030602030204" pitchFamily="34" charset="0"/>
                        </a:rPr>
                        <a:t>gRNA-template complex</a:t>
                      </a:r>
                    </a:p>
                  </a:txBody>
                  <a:tcPr marL="132596" marR="132596" marT="66298" marB="66298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549351"/>
                  </a:ext>
                </a:extLst>
              </a:tr>
              <a:tr h="566751">
                <a:tc>
                  <a:txBody>
                    <a:bodyPr/>
                    <a:lstStyle/>
                    <a:p>
                      <a:pPr rtl="0"/>
                      <a:r>
                        <a:rPr lang="en-US" sz="2500" b="0" dirty="0">
                          <a:effectLst/>
                          <a:latin typeface="Ubuntu" panose="020B0504030602030204" pitchFamily="34" charset="0"/>
                        </a:rPr>
                        <a:t>1</a:t>
                      </a:r>
                    </a:p>
                  </a:txBody>
                  <a:tcPr marL="132596" marR="132596" marT="66298" marB="66298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500" dirty="0">
                          <a:effectLst/>
                          <a:latin typeface="Ubuntu" panose="020B0504030602030204" pitchFamily="34" charset="0"/>
                        </a:rPr>
                        <a:t>rs334_C (control) – no guide</a:t>
                      </a:r>
                    </a:p>
                  </a:txBody>
                  <a:tcPr marL="132596" marR="132596" marT="66298" marB="66298"/>
                </a:tc>
                <a:extLst>
                  <a:ext uri="{0D108BD9-81ED-4DB2-BD59-A6C34878D82A}">
                    <a16:rowId xmlns:a16="http://schemas.microsoft.com/office/drawing/2014/main" val="188311027"/>
                  </a:ext>
                </a:extLst>
              </a:tr>
              <a:tr h="566751">
                <a:tc>
                  <a:txBody>
                    <a:bodyPr/>
                    <a:lstStyle/>
                    <a:p>
                      <a:pPr rtl="0"/>
                      <a:r>
                        <a:rPr lang="en-US" sz="2500" b="0" dirty="0">
                          <a:effectLst/>
                          <a:latin typeface="Ubuntu" panose="020B0504030602030204" pitchFamily="34" charset="0"/>
                        </a:rPr>
                        <a:t>2</a:t>
                      </a:r>
                    </a:p>
                  </a:txBody>
                  <a:tcPr marL="132596" marR="132596" marT="66298" marB="6629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dirty="0">
                          <a:effectLst/>
                          <a:latin typeface="Ubuntu" panose="020B0504030602030204" pitchFamily="34" charset="0"/>
                        </a:rPr>
                        <a:t>rs334_C</a:t>
                      </a:r>
                    </a:p>
                  </a:txBody>
                  <a:tcPr marL="132596" marR="132596" marT="66298" marB="66298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584034"/>
                  </a:ext>
                </a:extLst>
              </a:tr>
              <a:tr h="566751">
                <a:tc>
                  <a:txBody>
                    <a:bodyPr/>
                    <a:lstStyle/>
                    <a:p>
                      <a:pPr rtl="0"/>
                      <a:r>
                        <a:rPr lang="en-US" sz="2500" b="1" dirty="0">
                          <a:effectLst/>
                          <a:latin typeface="Ubuntu" panose="020B0504030602030204" pitchFamily="34" charset="0"/>
                        </a:rPr>
                        <a:t>3</a:t>
                      </a:r>
                    </a:p>
                  </a:txBody>
                  <a:tcPr marL="132596" marR="132596" marT="66298" marB="6629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dirty="0">
                          <a:effectLst/>
                          <a:latin typeface="Ubuntu" panose="020B0504030602030204" pitchFamily="34" charset="0"/>
                        </a:rPr>
                        <a:t>rs334_T (control) – no guide</a:t>
                      </a:r>
                    </a:p>
                  </a:txBody>
                  <a:tcPr marL="132596" marR="132596" marT="66298" marB="66298"/>
                </a:tc>
                <a:extLst>
                  <a:ext uri="{0D108BD9-81ED-4DB2-BD59-A6C34878D82A}">
                    <a16:rowId xmlns:a16="http://schemas.microsoft.com/office/drawing/2014/main" val="1694430249"/>
                  </a:ext>
                </a:extLst>
              </a:tr>
              <a:tr h="566751">
                <a:tc>
                  <a:txBody>
                    <a:bodyPr/>
                    <a:lstStyle/>
                    <a:p>
                      <a:pPr rtl="0"/>
                      <a:r>
                        <a:rPr lang="en-US" sz="2500" b="1" dirty="0">
                          <a:effectLst/>
                          <a:latin typeface="Ubuntu" panose="020B0504030602030204" pitchFamily="34" charset="0"/>
                        </a:rPr>
                        <a:t>4</a:t>
                      </a:r>
                    </a:p>
                  </a:txBody>
                  <a:tcPr marL="132596" marR="132596" marT="66298" marB="6629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500" dirty="0">
                          <a:effectLst/>
                          <a:latin typeface="Ubuntu" panose="020B0504030602030204" pitchFamily="34" charset="0"/>
                        </a:rPr>
                        <a:t>rs334_T</a:t>
                      </a:r>
                    </a:p>
                  </a:txBody>
                  <a:tcPr marL="132596" marR="132596" marT="66298" marB="66298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8056"/>
                  </a:ext>
                </a:extLst>
              </a:tr>
              <a:tr h="566751">
                <a:tc>
                  <a:txBody>
                    <a:bodyPr/>
                    <a:lstStyle/>
                    <a:p>
                      <a:pPr rtl="0"/>
                      <a:r>
                        <a:rPr lang="en-US" sz="2500" b="0" dirty="0">
                          <a:effectLst/>
                          <a:latin typeface="Ubuntu" panose="020B0504030602030204" pitchFamily="34" charset="0"/>
                        </a:rPr>
                        <a:t>5</a:t>
                      </a:r>
                    </a:p>
                  </a:txBody>
                  <a:tcPr marL="132596" marR="132596" marT="66298" marB="66298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500" dirty="0" err="1">
                          <a:effectLst/>
                          <a:latin typeface="Ubuntu" panose="020B0504030602030204" pitchFamily="34" charset="0"/>
                        </a:rPr>
                        <a:t>HBBwt</a:t>
                      </a:r>
                      <a:r>
                        <a:rPr lang="en-US" sz="2500" dirty="0">
                          <a:effectLst/>
                          <a:latin typeface="Ubuntu" panose="020B0504030602030204" pitchFamily="34" charset="0"/>
                        </a:rPr>
                        <a:t> (control) – no guide</a:t>
                      </a:r>
                    </a:p>
                  </a:txBody>
                  <a:tcPr marL="132596" marR="132596" marT="66298" marB="66298"/>
                </a:tc>
                <a:extLst>
                  <a:ext uri="{0D108BD9-81ED-4DB2-BD59-A6C34878D82A}">
                    <a16:rowId xmlns:a16="http://schemas.microsoft.com/office/drawing/2014/main" val="1542403503"/>
                  </a:ext>
                </a:extLst>
              </a:tr>
              <a:tr h="566751">
                <a:tc>
                  <a:txBody>
                    <a:bodyPr/>
                    <a:lstStyle/>
                    <a:p>
                      <a:pPr rtl="0"/>
                      <a:r>
                        <a:rPr lang="en-US" sz="2500" b="0" dirty="0">
                          <a:effectLst/>
                          <a:latin typeface="Ubuntu" panose="020B0504030602030204" pitchFamily="34" charset="0"/>
                        </a:rPr>
                        <a:t>6</a:t>
                      </a:r>
                    </a:p>
                  </a:txBody>
                  <a:tcPr marL="132596" marR="132596" marT="66298" marB="6629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500" dirty="0" err="1">
                          <a:effectLst/>
                          <a:latin typeface="Ubuntu" panose="020B0504030602030204" pitchFamily="34" charset="0"/>
                        </a:rPr>
                        <a:t>HBBwt</a:t>
                      </a:r>
                      <a:endParaRPr lang="en-US" sz="2500" dirty="0"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132596" marR="132596" marT="66298" marB="66298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351360"/>
                  </a:ext>
                </a:extLst>
              </a:tr>
              <a:tr h="566751">
                <a:tc>
                  <a:txBody>
                    <a:bodyPr/>
                    <a:lstStyle/>
                    <a:p>
                      <a:pPr rtl="0"/>
                      <a:r>
                        <a:rPr lang="en-US" sz="2500" b="0" dirty="0">
                          <a:effectLst/>
                          <a:latin typeface="Ubuntu" panose="020B0504030602030204" pitchFamily="34" charset="0"/>
                        </a:rPr>
                        <a:t>7</a:t>
                      </a:r>
                    </a:p>
                  </a:txBody>
                  <a:tcPr marL="132596" marR="132596" marT="66298" marB="66298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500" dirty="0">
                          <a:effectLst/>
                          <a:latin typeface="Ubuntu" panose="020B0504030602030204" pitchFamily="34" charset="0"/>
                        </a:rPr>
                        <a:t>rs75389940_G (control) – no guide</a:t>
                      </a:r>
                    </a:p>
                  </a:txBody>
                  <a:tcPr marL="132596" marR="132596" marT="66298" marB="66298"/>
                </a:tc>
                <a:extLst>
                  <a:ext uri="{0D108BD9-81ED-4DB2-BD59-A6C34878D82A}">
                    <a16:rowId xmlns:a16="http://schemas.microsoft.com/office/drawing/2014/main" val="1598287111"/>
                  </a:ext>
                </a:extLst>
              </a:tr>
              <a:tr h="566751">
                <a:tc>
                  <a:txBody>
                    <a:bodyPr/>
                    <a:lstStyle/>
                    <a:p>
                      <a:pPr rtl="0"/>
                      <a:r>
                        <a:rPr lang="en-US" sz="2500" b="1" dirty="0">
                          <a:effectLst/>
                          <a:latin typeface="Ubuntu" panose="020B0504030602030204" pitchFamily="34" charset="0"/>
                        </a:rPr>
                        <a:t>8</a:t>
                      </a:r>
                    </a:p>
                  </a:txBody>
                  <a:tcPr marL="132596" marR="132596" marT="66298" marB="6629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500" dirty="0">
                          <a:effectLst/>
                          <a:latin typeface="Ubuntu" panose="020B0504030602030204" pitchFamily="34" charset="0"/>
                        </a:rPr>
                        <a:t>rs75389940_G </a:t>
                      </a:r>
                    </a:p>
                  </a:txBody>
                  <a:tcPr marL="132596" marR="132596" marT="66298" marB="66298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178543"/>
                  </a:ext>
                </a:extLst>
              </a:tr>
              <a:tr h="566751">
                <a:tc>
                  <a:txBody>
                    <a:bodyPr/>
                    <a:lstStyle/>
                    <a:p>
                      <a:pPr rtl="0"/>
                      <a:r>
                        <a:rPr lang="en-US" sz="2500" b="1" dirty="0">
                          <a:effectLst/>
                          <a:latin typeface="Ubuntu" panose="020B0504030602030204" pitchFamily="34" charset="0"/>
                        </a:rPr>
                        <a:t>9</a:t>
                      </a:r>
                    </a:p>
                  </a:txBody>
                  <a:tcPr marL="132596" marR="132596" marT="66298" marB="66298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500" dirty="0">
                          <a:effectLst/>
                          <a:latin typeface="Ubuntu" panose="020B0504030602030204" pitchFamily="34" charset="0"/>
                        </a:rPr>
                        <a:t>WT_CF (control) – no guide</a:t>
                      </a:r>
                    </a:p>
                  </a:txBody>
                  <a:tcPr marL="132596" marR="132596" marT="66298" marB="66298"/>
                </a:tc>
                <a:extLst>
                  <a:ext uri="{0D108BD9-81ED-4DB2-BD59-A6C34878D82A}">
                    <a16:rowId xmlns:a16="http://schemas.microsoft.com/office/drawing/2014/main" val="1467952438"/>
                  </a:ext>
                </a:extLst>
              </a:tr>
              <a:tr h="566751">
                <a:tc>
                  <a:txBody>
                    <a:bodyPr/>
                    <a:lstStyle/>
                    <a:p>
                      <a:pPr rtl="0"/>
                      <a:r>
                        <a:rPr lang="en-US" sz="2500" b="1" dirty="0">
                          <a:effectLst/>
                          <a:latin typeface="Ubuntu" panose="020B0504030602030204" pitchFamily="34" charset="0"/>
                        </a:rPr>
                        <a:t>10</a:t>
                      </a:r>
                    </a:p>
                  </a:txBody>
                  <a:tcPr marL="132596" marR="132596" marT="66298" marB="6629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500" dirty="0">
                          <a:effectLst/>
                          <a:latin typeface="Ubuntu" panose="020B0504030602030204" pitchFamily="34" charset="0"/>
                        </a:rPr>
                        <a:t>WT_CF</a:t>
                      </a:r>
                    </a:p>
                  </a:txBody>
                  <a:tcPr marL="132596" marR="132596" marT="66298" marB="66298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428809"/>
                  </a:ext>
                </a:extLst>
              </a:tr>
              <a:tr h="633978">
                <a:tc>
                  <a:txBody>
                    <a:bodyPr/>
                    <a:lstStyle/>
                    <a:p>
                      <a:pPr rtl="0"/>
                      <a:r>
                        <a:rPr lang="en-US" sz="2500" b="0" dirty="0">
                          <a:effectLst/>
                          <a:latin typeface="Ubuntu" panose="020B0504030602030204" pitchFamily="34" charset="0"/>
                        </a:rPr>
                        <a:t>11</a:t>
                      </a:r>
                    </a:p>
                  </a:txBody>
                  <a:tcPr marL="132596" marR="132596" marT="66298" marB="6629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dirty="0">
                          <a:effectLst/>
                          <a:latin typeface="Ubuntu" panose="020B0504030602030204" pitchFamily="34" charset="0"/>
                        </a:rPr>
                        <a:t>Template </a:t>
                      </a:r>
                      <a:r>
                        <a:rPr lang="en-US" sz="2500" dirty="0" err="1">
                          <a:effectLst/>
                          <a:latin typeface="Ubuntu" panose="020B0504030602030204" pitchFamily="34" charset="0"/>
                        </a:rPr>
                        <a:t>wt_CF</a:t>
                      </a:r>
                      <a:r>
                        <a:rPr lang="en-US" sz="2500" dirty="0">
                          <a:effectLst/>
                          <a:latin typeface="Ubuntu" panose="020B0504030602030204" pitchFamily="34" charset="0"/>
                        </a:rPr>
                        <a:t> + guide rs75389940_G</a:t>
                      </a:r>
                    </a:p>
                  </a:txBody>
                  <a:tcPr marL="132596" marR="132596" marT="66298" marB="66298"/>
                </a:tc>
                <a:extLst>
                  <a:ext uri="{0D108BD9-81ED-4DB2-BD59-A6C34878D82A}">
                    <a16:rowId xmlns:a16="http://schemas.microsoft.com/office/drawing/2014/main" val="3973297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3470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EEA6B7A-41C1-4B6A-8257-27757BE75898}"/>
              </a:ext>
            </a:extLst>
          </p:cNvPr>
          <p:cNvSpPr/>
          <p:nvPr/>
        </p:nvSpPr>
        <p:spPr>
          <a:xfrm>
            <a:off x="0" y="960700"/>
            <a:ext cx="12192000" cy="48383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412507-99B0-4B1F-8DE8-1C05B38D7D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369"/>
          <a:stretch/>
        </p:blipFill>
        <p:spPr>
          <a:xfrm>
            <a:off x="477141" y="1448711"/>
            <a:ext cx="3652216" cy="19202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36B2B6-D5D7-4E2A-BF90-E2AEFCC93C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072"/>
          <a:stretch/>
        </p:blipFill>
        <p:spPr>
          <a:xfrm>
            <a:off x="7686490" y="3764963"/>
            <a:ext cx="3641717" cy="182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510025-70FC-4D54-8141-2583E09EE78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96" r="49927"/>
          <a:stretch/>
        </p:blipFill>
        <p:spPr>
          <a:xfrm>
            <a:off x="4201997" y="3745913"/>
            <a:ext cx="3411855" cy="182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27AE33-189E-4C16-AFB8-985E6E16BF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601" r="33964"/>
          <a:stretch/>
        </p:blipFill>
        <p:spPr>
          <a:xfrm>
            <a:off x="4243905" y="1448711"/>
            <a:ext cx="3522345" cy="19202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D69E1E-D42E-4ADB-8890-964F3F7D87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701" r="1602"/>
          <a:stretch/>
        </p:blipFill>
        <p:spPr>
          <a:xfrm>
            <a:off x="578490" y="3654473"/>
            <a:ext cx="3550867" cy="192024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22D7F44-69F9-487B-B2E1-79E01C704E22}"/>
              </a:ext>
            </a:extLst>
          </p:cNvPr>
          <p:cNvCxnSpPr>
            <a:cxnSpLocks/>
          </p:cNvCxnSpPr>
          <p:nvPr/>
        </p:nvCxnSpPr>
        <p:spPr>
          <a:xfrm>
            <a:off x="1504130" y="1105101"/>
            <a:ext cx="0" cy="687220"/>
          </a:xfrm>
          <a:prstGeom prst="straightConnector1">
            <a:avLst/>
          </a:prstGeom>
          <a:ln w="76200">
            <a:solidFill>
              <a:srgbClr val="61429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99F40F3-1A6E-4428-BF19-E55AB592DAA5}"/>
              </a:ext>
            </a:extLst>
          </p:cNvPr>
          <p:cNvCxnSpPr>
            <a:cxnSpLocks/>
          </p:cNvCxnSpPr>
          <p:nvPr/>
        </p:nvCxnSpPr>
        <p:spPr>
          <a:xfrm>
            <a:off x="5116010" y="1448711"/>
            <a:ext cx="0" cy="687220"/>
          </a:xfrm>
          <a:prstGeom prst="straightConnector1">
            <a:avLst/>
          </a:prstGeom>
          <a:ln w="76200">
            <a:solidFill>
              <a:srgbClr val="61429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83AD831-9FFF-4F20-8A57-5A0A82594057}"/>
              </a:ext>
            </a:extLst>
          </p:cNvPr>
          <p:cNvCxnSpPr>
            <a:cxnSpLocks/>
          </p:cNvCxnSpPr>
          <p:nvPr/>
        </p:nvCxnSpPr>
        <p:spPr>
          <a:xfrm>
            <a:off x="1484260" y="3421353"/>
            <a:ext cx="0" cy="687220"/>
          </a:xfrm>
          <a:prstGeom prst="straightConnector1">
            <a:avLst/>
          </a:prstGeom>
          <a:ln w="76200">
            <a:solidFill>
              <a:srgbClr val="61429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CAEAE0B-162A-4755-8DB0-FEFE78EDF540}"/>
              </a:ext>
            </a:extLst>
          </p:cNvPr>
          <p:cNvCxnSpPr>
            <a:cxnSpLocks/>
          </p:cNvCxnSpPr>
          <p:nvPr/>
        </p:nvCxnSpPr>
        <p:spPr>
          <a:xfrm>
            <a:off x="5035180" y="3429656"/>
            <a:ext cx="0" cy="687220"/>
          </a:xfrm>
          <a:prstGeom prst="straightConnector1">
            <a:avLst/>
          </a:prstGeom>
          <a:ln w="76200">
            <a:solidFill>
              <a:srgbClr val="61429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9CBDE2B-9C08-415E-96AF-93791613CDCE}"/>
              </a:ext>
            </a:extLst>
          </p:cNvPr>
          <p:cNvCxnSpPr>
            <a:cxnSpLocks/>
          </p:cNvCxnSpPr>
          <p:nvPr/>
        </p:nvCxnSpPr>
        <p:spPr>
          <a:xfrm>
            <a:off x="8532760" y="3482996"/>
            <a:ext cx="0" cy="687220"/>
          </a:xfrm>
          <a:prstGeom prst="straightConnector1">
            <a:avLst/>
          </a:prstGeom>
          <a:ln w="76200">
            <a:solidFill>
              <a:srgbClr val="61429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A302622C-1716-4BEB-A6AB-875F16A16B15}"/>
              </a:ext>
            </a:extLst>
          </p:cNvPr>
          <p:cNvSpPr/>
          <p:nvPr/>
        </p:nvSpPr>
        <p:spPr>
          <a:xfrm>
            <a:off x="4751085" y="2512893"/>
            <a:ext cx="470229" cy="365706"/>
          </a:xfrm>
          <a:prstGeom prst="ellipse">
            <a:avLst/>
          </a:prstGeom>
          <a:noFill/>
          <a:ln w="19050">
            <a:solidFill>
              <a:srgbClr val="6142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3E0666F-56F4-49A2-8EAE-98E75BA87C35}"/>
              </a:ext>
            </a:extLst>
          </p:cNvPr>
          <p:cNvSpPr/>
          <p:nvPr/>
        </p:nvSpPr>
        <p:spPr>
          <a:xfrm>
            <a:off x="4699490" y="4695825"/>
            <a:ext cx="422227" cy="447675"/>
          </a:xfrm>
          <a:prstGeom prst="ellipse">
            <a:avLst/>
          </a:prstGeom>
          <a:noFill/>
          <a:ln w="19050">
            <a:solidFill>
              <a:srgbClr val="6142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Table 18">
            <a:extLst>
              <a:ext uri="{FF2B5EF4-FFF2-40B4-BE49-F238E27FC236}">
                <a16:creationId xmlns:a16="http://schemas.microsoft.com/office/drawing/2014/main" id="{57D4E745-7131-470D-B13C-16A40DF1EE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6805"/>
              </p:ext>
            </p:extLst>
          </p:nvPr>
        </p:nvGraphicFramePr>
        <p:xfrm>
          <a:off x="8110439" y="1409558"/>
          <a:ext cx="3604420" cy="129978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3132">
                  <a:extLst>
                    <a:ext uri="{9D8B030D-6E8A-4147-A177-3AD203B41FA5}">
                      <a16:colId xmlns:a16="http://schemas.microsoft.com/office/drawing/2014/main" val="362125449"/>
                    </a:ext>
                  </a:extLst>
                </a:gridCol>
                <a:gridCol w="3061288">
                  <a:extLst>
                    <a:ext uri="{9D8B030D-6E8A-4147-A177-3AD203B41FA5}">
                      <a16:colId xmlns:a16="http://schemas.microsoft.com/office/drawing/2014/main" val="3043162107"/>
                    </a:ext>
                  </a:extLst>
                </a:gridCol>
              </a:tblGrid>
              <a:tr h="253932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  <a:latin typeface="Ubuntu" panose="020B0504030602030204" pitchFamily="34" charset="0"/>
                        </a:rPr>
                        <a:t>7</a:t>
                      </a:r>
                    </a:p>
                  </a:txBody>
                  <a:tcPr marL="63483" marR="63483" marT="31741" marB="31741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  <a:latin typeface="Ubuntu" panose="020B0504030602030204" pitchFamily="34" charset="0"/>
                        </a:rPr>
                        <a:t>rs75389940_G (control) – no guide</a:t>
                      </a:r>
                    </a:p>
                  </a:txBody>
                  <a:tcPr marL="63483" marR="63483" marT="31741" marB="31741"/>
                </a:tc>
                <a:extLst>
                  <a:ext uri="{0D108BD9-81ED-4DB2-BD59-A6C34878D82A}">
                    <a16:rowId xmlns:a16="http://schemas.microsoft.com/office/drawing/2014/main" val="1598287111"/>
                  </a:ext>
                </a:extLst>
              </a:tr>
              <a:tr h="253932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  <a:latin typeface="Ubuntu" panose="020B0504030602030204" pitchFamily="34" charset="0"/>
                        </a:rPr>
                        <a:t>8</a:t>
                      </a:r>
                    </a:p>
                  </a:txBody>
                  <a:tcPr marL="63483" marR="63483" marT="31741" marB="31741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  <a:latin typeface="Ubuntu" panose="020B0504030602030204" pitchFamily="34" charset="0"/>
                        </a:rPr>
                        <a:t>rs75389940_G </a:t>
                      </a:r>
                    </a:p>
                  </a:txBody>
                  <a:tcPr marL="63483" marR="63483" marT="31741" marB="31741"/>
                </a:tc>
                <a:extLst>
                  <a:ext uri="{0D108BD9-81ED-4DB2-BD59-A6C34878D82A}">
                    <a16:rowId xmlns:a16="http://schemas.microsoft.com/office/drawing/2014/main" val="899178543"/>
                  </a:ext>
                </a:extLst>
              </a:tr>
              <a:tr h="253932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  <a:latin typeface="Ubuntu" panose="020B0504030602030204" pitchFamily="34" charset="0"/>
                        </a:rPr>
                        <a:t>9</a:t>
                      </a:r>
                    </a:p>
                  </a:txBody>
                  <a:tcPr marL="63483" marR="63483" marT="31741" marB="31741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  <a:latin typeface="Ubuntu" panose="020B0504030602030204" pitchFamily="34" charset="0"/>
                        </a:rPr>
                        <a:t>WT_CF (control – no guide</a:t>
                      </a:r>
                    </a:p>
                  </a:txBody>
                  <a:tcPr marL="63483" marR="63483" marT="31741" marB="31741"/>
                </a:tc>
                <a:extLst>
                  <a:ext uri="{0D108BD9-81ED-4DB2-BD59-A6C34878D82A}">
                    <a16:rowId xmlns:a16="http://schemas.microsoft.com/office/drawing/2014/main" val="1467952438"/>
                  </a:ext>
                </a:extLst>
              </a:tr>
              <a:tr h="253932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  <a:latin typeface="Ubuntu" panose="020B0504030602030204" pitchFamily="34" charset="0"/>
                        </a:rPr>
                        <a:t>10</a:t>
                      </a:r>
                    </a:p>
                  </a:txBody>
                  <a:tcPr marL="63483" marR="63483" marT="31741" marB="31741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  <a:latin typeface="Ubuntu" panose="020B0504030602030204" pitchFamily="34" charset="0"/>
                        </a:rPr>
                        <a:t>WT_CF</a:t>
                      </a:r>
                    </a:p>
                  </a:txBody>
                  <a:tcPr marL="63483" marR="63483" marT="31741" marB="31741"/>
                </a:tc>
                <a:extLst>
                  <a:ext uri="{0D108BD9-81ED-4DB2-BD59-A6C34878D82A}">
                    <a16:rowId xmlns:a16="http://schemas.microsoft.com/office/drawing/2014/main" val="2959428809"/>
                  </a:ext>
                </a:extLst>
              </a:tr>
              <a:tr h="284053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  <a:latin typeface="Ubuntu" panose="020B0504030602030204" pitchFamily="34" charset="0"/>
                        </a:rPr>
                        <a:t>11</a:t>
                      </a:r>
                    </a:p>
                  </a:txBody>
                  <a:tcPr marL="63483" marR="63483" marT="31741" marB="317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Ubuntu" panose="020B0504030602030204" pitchFamily="34" charset="0"/>
                        </a:rPr>
                        <a:t>Template </a:t>
                      </a:r>
                      <a:r>
                        <a:rPr lang="en-US" sz="1200" dirty="0" err="1">
                          <a:effectLst/>
                          <a:latin typeface="Ubuntu" panose="020B0504030602030204" pitchFamily="34" charset="0"/>
                        </a:rPr>
                        <a:t>wt_CF</a:t>
                      </a:r>
                      <a:r>
                        <a:rPr lang="en-US" sz="1200" dirty="0">
                          <a:effectLst/>
                          <a:latin typeface="Ubuntu" panose="020B0504030602030204" pitchFamily="34" charset="0"/>
                        </a:rPr>
                        <a:t> + guide rs75389940_G</a:t>
                      </a:r>
                    </a:p>
                  </a:txBody>
                  <a:tcPr marL="63483" marR="63483" marT="31741" marB="31741"/>
                </a:tc>
                <a:extLst>
                  <a:ext uri="{0D108BD9-81ED-4DB2-BD59-A6C34878D82A}">
                    <a16:rowId xmlns:a16="http://schemas.microsoft.com/office/drawing/2014/main" val="3973297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1407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116</Words>
  <Application>Microsoft Office PowerPoint</Application>
  <PresentationFormat>Widescreen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Ubuntu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Wagdy</dc:creator>
  <cp:lastModifiedBy>Andrew Wagdy</cp:lastModifiedBy>
  <cp:revision>6</cp:revision>
  <dcterms:created xsi:type="dcterms:W3CDTF">2019-10-19T15:55:47Z</dcterms:created>
  <dcterms:modified xsi:type="dcterms:W3CDTF">2019-10-19T17:10:29Z</dcterms:modified>
</cp:coreProperties>
</file>